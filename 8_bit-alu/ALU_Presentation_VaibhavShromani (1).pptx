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5" r:id="rId10"/>
    <p:sldId id="263" r:id="rId11"/>
    <p:sldId id="264" r:id="rId12"/>
    <p:sldId id="266" r:id="rId13"/>
    <p:sldId id="269" r:id="rId14"/>
    <p:sldId id="271" r:id="rId15"/>
    <p:sldId id="267" r:id="rId16"/>
    <p:sldId id="268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003A1A"/>
    <a:srgbClr val="93361D"/>
    <a:srgbClr val="2A2928"/>
    <a:srgbClr val="F8D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45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422CB2-8EDF-4735-B4CD-F369DC030AD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253ECF-19D0-422A-9C64-35990E954377}">
      <dgm:prSet/>
      <dgm:spPr/>
      <dgm:t>
        <a:bodyPr/>
        <a:lstStyle/>
        <a:p>
          <a:r>
            <a:rPr lang="en-US" b="1" dirty="0"/>
            <a:t>DESIGN  •  VLSI  •  VERILOG HDL</a:t>
          </a:r>
          <a:endParaRPr lang="en-IN" dirty="0"/>
        </a:p>
      </dgm:t>
    </dgm:pt>
    <dgm:pt modelId="{C51D41D0-573F-48C1-A27D-8B7C10DE312B}" type="parTrans" cxnId="{3E910FC0-5FFA-454A-9DFE-49717E886D50}">
      <dgm:prSet/>
      <dgm:spPr/>
      <dgm:t>
        <a:bodyPr/>
        <a:lstStyle/>
        <a:p>
          <a:endParaRPr lang="en-IN"/>
        </a:p>
      </dgm:t>
    </dgm:pt>
    <dgm:pt modelId="{621333FB-117F-4AC5-A579-DC02C80492BE}" type="sibTrans" cxnId="{3E910FC0-5FFA-454A-9DFE-49717E886D50}">
      <dgm:prSet/>
      <dgm:spPr/>
      <dgm:t>
        <a:bodyPr/>
        <a:lstStyle/>
        <a:p>
          <a:endParaRPr lang="en-IN"/>
        </a:p>
      </dgm:t>
    </dgm:pt>
    <dgm:pt modelId="{A3460F12-380A-44F5-8FB6-58580D3E864C}" type="pres">
      <dgm:prSet presAssocID="{A0422CB2-8EDF-4735-B4CD-F369DC030AD0}" presName="linearFlow" presStyleCnt="0">
        <dgm:presLayoutVars>
          <dgm:dir/>
          <dgm:resizeHandles val="exact"/>
        </dgm:presLayoutVars>
      </dgm:prSet>
      <dgm:spPr/>
    </dgm:pt>
    <dgm:pt modelId="{CD72B3AF-D313-46D8-8AB7-34A4B972AD59}" type="pres">
      <dgm:prSet presAssocID="{F5253ECF-19D0-422A-9C64-35990E954377}" presName="composite" presStyleCnt="0"/>
      <dgm:spPr/>
    </dgm:pt>
    <dgm:pt modelId="{AA723FF7-DDFB-4DFD-816C-32008BAF21D1}" type="pres">
      <dgm:prSet presAssocID="{F5253ECF-19D0-422A-9C64-35990E954377}" presName="imgShp" presStyleLbl="fgImgPlace1" presStyleIdx="0" presStyleCnt="1" custFlipHor="1" custScaleX="8111" custLinFactX="-200000" custLinFactY="42721" custLinFactNeighborX="-202629" custLinFactNeighborY="100000"/>
      <dgm:spPr/>
    </dgm:pt>
    <dgm:pt modelId="{A5DB7094-5FE0-4ECD-B3E7-B94A0F1E7090}" type="pres">
      <dgm:prSet presAssocID="{F5253ECF-19D0-422A-9C64-35990E954377}" presName="txShp" presStyleLbl="node1" presStyleIdx="0" presStyleCnt="1" custScaleX="119887" custLinFactNeighborX="-785" custLinFactNeighborY="44090">
        <dgm:presLayoutVars>
          <dgm:bulletEnabled val="1"/>
        </dgm:presLayoutVars>
      </dgm:prSet>
      <dgm:spPr/>
    </dgm:pt>
  </dgm:ptLst>
  <dgm:cxnLst>
    <dgm:cxn modelId="{14AD62AF-D5EC-404A-92A7-A8FE2A1862D9}" type="presOf" srcId="{A0422CB2-8EDF-4735-B4CD-F369DC030AD0}" destId="{A3460F12-380A-44F5-8FB6-58580D3E864C}" srcOrd="0" destOrd="0" presId="urn:microsoft.com/office/officeart/2005/8/layout/vList3"/>
    <dgm:cxn modelId="{7E1989B5-9EB2-4E00-AB2F-931A79DC58F9}" type="presOf" srcId="{F5253ECF-19D0-422A-9C64-35990E954377}" destId="{A5DB7094-5FE0-4ECD-B3E7-B94A0F1E7090}" srcOrd="0" destOrd="0" presId="urn:microsoft.com/office/officeart/2005/8/layout/vList3"/>
    <dgm:cxn modelId="{3E910FC0-5FFA-454A-9DFE-49717E886D50}" srcId="{A0422CB2-8EDF-4735-B4CD-F369DC030AD0}" destId="{F5253ECF-19D0-422A-9C64-35990E954377}" srcOrd="0" destOrd="0" parTransId="{C51D41D0-573F-48C1-A27D-8B7C10DE312B}" sibTransId="{621333FB-117F-4AC5-A579-DC02C80492BE}"/>
    <dgm:cxn modelId="{45393A92-DBF5-451E-9D2E-4882BF5D59B4}" type="presParOf" srcId="{A3460F12-380A-44F5-8FB6-58580D3E864C}" destId="{CD72B3AF-D313-46D8-8AB7-34A4B972AD59}" srcOrd="0" destOrd="0" presId="urn:microsoft.com/office/officeart/2005/8/layout/vList3"/>
    <dgm:cxn modelId="{56E11F82-13B6-4C88-85D7-9892A48B1454}" type="presParOf" srcId="{CD72B3AF-D313-46D8-8AB7-34A4B972AD59}" destId="{AA723FF7-DDFB-4DFD-816C-32008BAF21D1}" srcOrd="0" destOrd="0" presId="urn:microsoft.com/office/officeart/2005/8/layout/vList3"/>
    <dgm:cxn modelId="{E29754FB-774F-490F-8FC4-BDB6E13149CE}" type="presParOf" srcId="{CD72B3AF-D313-46D8-8AB7-34A4B972AD59}" destId="{A5DB7094-5FE0-4ECD-B3E7-B94A0F1E709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B7094-5FE0-4ECD-B3E7-B94A0F1E7090}">
      <dsp:nvSpPr>
        <dsp:cNvPr id="0" name=""/>
        <dsp:cNvSpPr/>
      </dsp:nvSpPr>
      <dsp:spPr>
        <a:xfrm rot="10800000">
          <a:off x="805502" y="0"/>
          <a:ext cx="6678618" cy="563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560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DESIGN  •  VLSI  •  VERILOG HDL</a:t>
          </a:r>
          <a:endParaRPr lang="en-IN" sz="2600" kern="1200" dirty="0"/>
        </a:p>
      </dsp:txBody>
      <dsp:txXfrm rot="10800000">
        <a:off x="946418" y="0"/>
        <a:ext cx="6537702" cy="563664"/>
      </dsp:txXfrm>
    </dsp:sp>
    <dsp:sp modelId="{AA723FF7-DDFB-4DFD-816C-32008BAF21D1}">
      <dsp:nvSpPr>
        <dsp:cNvPr id="0" name=""/>
        <dsp:cNvSpPr/>
      </dsp:nvSpPr>
      <dsp:spPr>
        <a:xfrm flipH="1">
          <a:off x="0" y="0"/>
          <a:ext cx="45718" cy="563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77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9561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4999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5049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8979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493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6253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670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103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765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7623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1045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60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63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hyperlink" Target="https://github.com/vaibhavshromani/8_bit_ALU" TargetMode="External"/><Relationship Id="rId5" Type="http://schemas.openxmlformats.org/officeDocument/2006/relationships/diagramQuickStyle" Target="../diagrams/quickStyle1.xml"/><Relationship Id="rId10" Type="http://schemas.openxmlformats.org/officeDocument/2006/relationships/slide" Target="slid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hyperlink" Target="mailto:info@technglobal.in" TargetMode="Externa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50000">
              <a:srgbClr val="F8D2DC">
                <a:alpha val="67000"/>
                <a:lumMod val="0"/>
              </a:srgbClr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13368" y="-2108391"/>
            <a:ext cx="5029200" cy="5029200"/>
          </a:xfrm>
          <a:prstGeom prst="ellipse">
            <a:avLst/>
          </a:prstGeom>
          <a:solidFill>
            <a:srgbClr val="123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F2848"/>
          </a:solidFill>
          <a:ln/>
        </p:spPr>
      </p:sp>
      <p:sp>
        <p:nvSpPr>
          <p:cNvPr id="4" name="Shape 2"/>
          <p:cNvSpPr/>
          <p:nvPr/>
        </p:nvSpPr>
        <p:spPr>
          <a:xfrm>
            <a:off x="3895201" y="266636"/>
            <a:ext cx="3390502" cy="10058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A2710045-E66D-5BAA-077E-B7FCDA5AE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245828"/>
              </p:ext>
            </p:extLst>
          </p:nvPr>
        </p:nvGraphicFramePr>
        <p:xfrm>
          <a:off x="1165123" y="1474481"/>
          <a:ext cx="8377084" cy="563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 4"/>
          <p:cNvSpPr/>
          <p:nvPr/>
        </p:nvSpPr>
        <p:spPr>
          <a:xfrm>
            <a:off x="731519" y="2835946"/>
            <a:ext cx="10728655" cy="974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8-Bit Arithmetic Logic Unit (ALU)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-45720" y="23873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using Verilog HDL</a:t>
            </a:r>
            <a:endParaRPr lang="en-US"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8D9F2B-F02A-4509-0BE3-EDB2973BA3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201" y="217841"/>
            <a:ext cx="3390503" cy="113879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C3F6C12-5869-A76F-B743-428CEF6481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3368" y="-2108390"/>
            <a:ext cx="5029200" cy="4998650"/>
          </a:xfrm>
          <a:prstGeom prst="flowChartConnector">
            <a:avLst/>
          </a:prstGeom>
          <a:effectLst>
            <a:reflection stA="45000" endPos="4000" dist="50800" dir="5400000" sy="-100000" algn="bl" rotWithShape="0"/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251587-72D7-9165-50E7-8BC2F74E41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595702" y="4389120"/>
            <a:ext cx="3790262" cy="3840480"/>
          </a:xfrm>
          <a:prstGeom prst="flowChartConnector">
            <a:avLst/>
          </a:prstGeom>
        </p:spPr>
      </p:pic>
      <p:sp>
        <p:nvSpPr>
          <p:cNvPr id="5" name="Shape 6">
            <a:hlinkClick r:id="rId10" action="ppaction://hlinksldjump"/>
            <a:extLst>
              <a:ext uri="{FF2B5EF4-FFF2-40B4-BE49-F238E27FC236}">
                <a16:creationId xmlns:a16="http://schemas.microsoft.com/office/drawing/2014/main" id="{07394EEC-2DAD-F0E8-0D0F-2E0308FB73AE}"/>
              </a:ext>
            </a:extLst>
          </p:cNvPr>
          <p:cNvSpPr/>
          <p:nvPr/>
        </p:nvSpPr>
        <p:spPr>
          <a:xfrm>
            <a:off x="2593177" y="3788587"/>
            <a:ext cx="7775687" cy="2296145"/>
          </a:xfrm>
          <a:prstGeom prst="roundRect">
            <a:avLst>
              <a:gd name="adj" fmla="val 4211"/>
            </a:avLst>
          </a:prstGeom>
          <a:solidFill>
            <a:srgbClr val="12274A"/>
          </a:solidFill>
          <a:ln w="12700">
            <a:solidFill>
              <a:srgbClr val="23436E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Submitted by : 	Vaibhav </a:t>
            </a:r>
            <a:r>
              <a:rPr lang="en-US" dirty="0" err="1">
                <a:solidFill>
                  <a:schemeClr val="bg1"/>
                </a:solidFill>
              </a:rPr>
              <a:t>Shromani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Branch:		Electronics &amp; Communication Engineering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Institute:		Maulana Azad National Institute Of Technology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Internship:	</a:t>
            </a:r>
            <a:r>
              <a:rPr lang="en-US" dirty="0" err="1">
                <a:solidFill>
                  <a:schemeClr val="bg1"/>
                </a:solidFill>
              </a:rPr>
              <a:t>Vlsi</a:t>
            </a:r>
            <a:r>
              <a:rPr lang="en-US" dirty="0">
                <a:solidFill>
                  <a:schemeClr val="bg1"/>
                </a:solidFill>
              </a:rPr>
              <a:t>  Design- </a:t>
            </a:r>
            <a:r>
              <a:rPr lang="en-US" dirty="0" err="1">
                <a:solidFill>
                  <a:schemeClr val="bg1"/>
                </a:solidFill>
              </a:rPr>
              <a:t>Technnglobal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Industial</a:t>
            </a:r>
            <a:r>
              <a:rPr lang="en-US" dirty="0">
                <a:solidFill>
                  <a:schemeClr val="bg1"/>
                </a:solidFill>
              </a:rPr>
              <a:t> Training Program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Repository:  </a:t>
            </a:r>
            <a:r>
              <a:rPr lang="en-IN" dirty="0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https://github.com/vaibhavshromani/8_bit_ALU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50000">
              <a:srgbClr val="F8D2DC">
                <a:alpha val="67000"/>
                <a:lumMod val="0"/>
              </a:srgbClr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292608"/>
            <a:ext cx="2133295" cy="85039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Overview</a:t>
            </a:r>
            <a:endParaRPr lang="en-US" sz="1600" b="1" dirty="0"/>
          </a:p>
        </p:txBody>
      </p:sp>
      <p:sp>
        <p:nvSpPr>
          <p:cNvPr id="6" name="Shape 3"/>
          <p:cNvSpPr/>
          <p:nvPr/>
        </p:nvSpPr>
        <p:spPr>
          <a:xfrm>
            <a:off x="547902" y="1503798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19021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2262" y="1502899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04025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055167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2262" y="2055167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ALU Architecture &amp; Operations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593104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548640" y="2593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2262" y="260689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 Design Implementation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131041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131041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42262" y="3131041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Design (Adder, Logic, Shifter)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53063" y="3640314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19" name="Text 16"/>
          <p:cNvSpPr/>
          <p:nvPr/>
        </p:nvSpPr>
        <p:spPr>
          <a:xfrm>
            <a:off x="553063" y="3634971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42262" y="364031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Top Level Module </a:t>
            </a:r>
            <a:r>
              <a:rPr lang="en-US" sz="1600" dirty="0"/>
              <a:t>(</a:t>
            </a:r>
            <a:r>
              <a:rPr lang="en-US" sz="1600" dirty="0" err="1"/>
              <a:t>alu_top.v</a:t>
            </a:r>
            <a:r>
              <a:rPr lang="en-US" sz="1600" dirty="0"/>
              <a:t>) 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15664" y="1858463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20840" y="18288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 — Xilinx Vivado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39754" y="2440126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25" name="Text 22"/>
          <p:cNvSpPr/>
          <p:nvPr/>
        </p:nvSpPr>
        <p:spPr>
          <a:xfrm>
            <a:off x="612648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23957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 Results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26480" y="2962656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28" name="Text 25"/>
          <p:cNvSpPr/>
          <p:nvPr/>
        </p:nvSpPr>
        <p:spPr>
          <a:xfrm>
            <a:off x="6126480" y="2962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96265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 Reports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26480" y="3529584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28"/>
          <p:cNvSpPr/>
          <p:nvPr/>
        </p:nvSpPr>
        <p:spPr>
          <a:xfrm>
            <a:off x="6126480" y="35295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4684509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 |  Vaibhav Shromani  |  Table of Contents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3226E40-9436-6776-A9A5-B2EB6C874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28600"/>
            <a:ext cx="2123486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50526B2-F911-0A0E-2FEE-9EB2C2D8ED59}"/>
              </a:ext>
            </a:extLst>
          </p:cNvPr>
          <p:cNvSpPr txBox="1"/>
          <p:nvPr/>
        </p:nvSpPr>
        <p:spPr>
          <a:xfrm>
            <a:off x="6583681" y="3586007"/>
            <a:ext cx="2324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Utilization Reports</a:t>
            </a:r>
            <a:endParaRPr lang="en-IN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15221A-4462-7B14-EE88-0FC18AFCA204}"/>
              </a:ext>
            </a:extLst>
          </p:cNvPr>
          <p:cNvSpPr txBox="1"/>
          <p:nvPr/>
        </p:nvSpPr>
        <p:spPr>
          <a:xfrm>
            <a:off x="6583680" y="4079783"/>
            <a:ext cx="34845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 </a:t>
            </a:r>
            <a:r>
              <a:rPr lang="en-IN" sz="1400" dirty="0"/>
              <a:t>Project Report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EC0AC6-1DDE-084C-2B42-F599A09FBF3A}"/>
              </a:ext>
            </a:extLst>
          </p:cNvPr>
          <p:cNvSpPr txBox="1"/>
          <p:nvPr/>
        </p:nvSpPr>
        <p:spPr>
          <a:xfrm>
            <a:off x="548640" y="4174810"/>
            <a:ext cx="457200" cy="420624"/>
          </a:xfrm>
          <a:prstGeom prst="rect">
            <a:avLst/>
          </a:prstGeom>
          <a:solidFill>
            <a:srgbClr val="007635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CD0F80-28DE-CFD0-1C43-C5D6443B1232}"/>
              </a:ext>
            </a:extLst>
          </p:cNvPr>
          <p:cNvSpPr txBox="1"/>
          <p:nvPr/>
        </p:nvSpPr>
        <p:spPr>
          <a:xfrm>
            <a:off x="586492" y="4006179"/>
            <a:ext cx="369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  06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2CA1A0-4EEF-FBB2-B5C0-22994421EFF3}"/>
              </a:ext>
            </a:extLst>
          </p:cNvPr>
          <p:cNvSpPr txBox="1"/>
          <p:nvPr/>
        </p:nvSpPr>
        <p:spPr>
          <a:xfrm>
            <a:off x="547902" y="4723887"/>
            <a:ext cx="457200" cy="420624"/>
          </a:xfrm>
          <a:prstGeom prst="rect">
            <a:avLst/>
          </a:prstGeom>
          <a:solidFill>
            <a:srgbClr val="007635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69A53B-177A-B87A-A47D-9416F853F523}"/>
              </a:ext>
            </a:extLst>
          </p:cNvPr>
          <p:cNvSpPr txBox="1"/>
          <p:nvPr/>
        </p:nvSpPr>
        <p:spPr>
          <a:xfrm>
            <a:off x="553063" y="5236772"/>
            <a:ext cx="457200" cy="420624"/>
          </a:xfrm>
          <a:prstGeom prst="rect">
            <a:avLst/>
          </a:prstGeom>
          <a:solidFill>
            <a:srgbClr val="007635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449A18-6BE1-A532-0812-8D0C85655A77}"/>
              </a:ext>
            </a:extLst>
          </p:cNvPr>
          <p:cNvSpPr txBox="1"/>
          <p:nvPr/>
        </p:nvSpPr>
        <p:spPr>
          <a:xfrm>
            <a:off x="590426" y="4585099"/>
            <a:ext cx="369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  07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7A8208-5B3B-B44D-6EEF-EC2D759286F0}"/>
              </a:ext>
            </a:extLst>
          </p:cNvPr>
          <p:cNvSpPr txBox="1"/>
          <p:nvPr/>
        </p:nvSpPr>
        <p:spPr>
          <a:xfrm>
            <a:off x="586367" y="5092592"/>
            <a:ext cx="369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  08</a:t>
            </a:r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C690C4FF-29DC-5DC1-4D1E-367AF3DBBC03}"/>
              </a:ext>
            </a:extLst>
          </p:cNvPr>
          <p:cNvSpPr/>
          <p:nvPr/>
        </p:nvSpPr>
        <p:spPr>
          <a:xfrm>
            <a:off x="6139754" y="1345139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EF1D8002-DEDA-5B0D-7EDC-B913B8CEF744}"/>
              </a:ext>
            </a:extLst>
          </p:cNvPr>
          <p:cNvSpPr/>
          <p:nvPr/>
        </p:nvSpPr>
        <p:spPr>
          <a:xfrm>
            <a:off x="6115664" y="4124676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DAEDEA36-C25D-C694-6E37-13C97D055A45}"/>
              </a:ext>
            </a:extLst>
          </p:cNvPr>
          <p:cNvSpPr/>
          <p:nvPr/>
        </p:nvSpPr>
        <p:spPr>
          <a:xfrm>
            <a:off x="6132377" y="469774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57A47"/>
          </a:solidFill>
          <a:ln/>
        </p:spPr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6C8F95-5291-761C-B707-690B73F0DA86}"/>
              </a:ext>
            </a:extLst>
          </p:cNvPr>
          <p:cNvSpPr txBox="1"/>
          <p:nvPr/>
        </p:nvSpPr>
        <p:spPr>
          <a:xfrm>
            <a:off x="6671186" y="1395468"/>
            <a:ext cx="2528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Test Vector Analysis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11F7E7-69F0-BB00-0F2B-380C3DD50EA4}"/>
              </a:ext>
            </a:extLst>
          </p:cNvPr>
          <p:cNvSpPr txBox="1"/>
          <p:nvPr/>
        </p:nvSpPr>
        <p:spPr>
          <a:xfrm>
            <a:off x="6176621" y="1409287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14328F-10C6-2966-7999-5873BFF12DF1}"/>
              </a:ext>
            </a:extLst>
          </p:cNvPr>
          <p:cNvSpPr txBox="1"/>
          <p:nvPr/>
        </p:nvSpPr>
        <p:spPr>
          <a:xfrm>
            <a:off x="6156957" y="4174810"/>
            <a:ext cx="470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 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EE5381-56F7-4F4D-564F-56771AD1F9DC}"/>
              </a:ext>
            </a:extLst>
          </p:cNvPr>
          <p:cNvSpPr txBox="1"/>
          <p:nvPr/>
        </p:nvSpPr>
        <p:spPr>
          <a:xfrm>
            <a:off x="6117133" y="4741159"/>
            <a:ext cx="470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 15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A08D52-06CC-5316-6CE6-B1212DE78160}"/>
              </a:ext>
            </a:extLst>
          </p:cNvPr>
          <p:cNvSpPr txBox="1"/>
          <p:nvPr/>
        </p:nvSpPr>
        <p:spPr>
          <a:xfrm>
            <a:off x="1047626" y="4180197"/>
            <a:ext cx="59207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/>
              <a:t>Top Level Module </a:t>
            </a:r>
            <a:r>
              <a:rPr lang="en-US" sz="1600" dirty="0"/>
              <a:t>(</a:t>
            </a:r>
            <a:r>
              <a:rPr lang="en-US" sz="1600" dirty="0" err="1"/>
              <a:t>alu_top.v</a:t>
            </a:r>
            <a:r>
              <a:rPr lang="en-US" sz="1600" dirty="0"/>
              <a:t>) </a:t>
            </a:r>
            <a:endParaRPr lang="en-US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6C8507-996E-9B80-EC42-9854F1AE4762}"/>
              </a:ext>
            </a:extLst>
          </p:cNvPr>
          <p:cNvSpPr txBox="1"/>
          <p:nvPr/>
        </p:nvSpPr>
        <p:spPr>
          <a:xfrm>
            <a:off x="1046888" y="4768518"/>
            <a:ext cx="6105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/>
              <a:t>Modular Architecture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5F5958-1E4A-2C10-8BAA-0E812247F59A}"/>
              </a:ext>
            </a:extLst>
          </p:cNvPr>
          <p:cNvSpPr txBox="1"/>
          <p:nvPr/>
        </p:nvSpPr>
        <p:spPr>
          <a:xfrm>
            <a:off x="1010263" y="5272964"/>
            <a:ext cx="6105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/>
              <a:t>Verification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0447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841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6411" y="500634"/>
            <a:ext cx="5400029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37094" y="1270325"/>
            <a:ext cx="11517812" cy="1628323"/>
          </a:xfrm>
          <a:prstGeom prst="roundRect">
            <a:avLst>
              <a:gd name="adj" fmla="val 5926"/>
            </a:avLst>
          </a:prstGeom>
          <a:solidFill>
            <a:srgbClr val="EAF6EF"/>
          </a:solidFill>
          <a:ln w="12700">
            <a:solidFill>
              <a:srgbClr val="CFE9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558964" y="1439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ALU?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58964" y="1966859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Logic Unit (ALU) is the core computational component of any processor. It performs arithmetic and logical operations on binary data. An 8-bit ALU processes operands that are 8 bits wide, making it a foundational building block in digital design and embedded systems.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3995928"/>
            <a:ext cx="146304" cy="146304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8679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8-bit ALU supporting 8 distinct operations using Verilog HDL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594360" y="4416552"/>
            <a:ext cx="146304" cy="146304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8853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modular, scalable architecture with separate sub-modules per operation</a:t>
            </a:r>
            <a:endParaRPr lang="en-US" sz="1400" b="1" dirty="0"/>
          </a:p>
        </p:txBody>
      </p:sp>
      <p:sp>
        <p:nvSpPr>
          <p:cNvPr id="14" name="Shape 11"/>
          <p:cNvSpPr/>
          <p:nvPr/>
        </p:nvSpPr>
        <p:spPr>
          <a:xfrm>
            <a:off x="594360" y="4837176"/>
            <a:ext cx="146304" cy="146304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functionality through a self-checking testbench covering all opcodes</a:t>
            </a:r>
            <a:endParaRPr lang="en-US" sz="1400" b="1" dirty="0"/>
          </a:p>
        </p:txBody>
      </p:sp>
      <p:sp>
        <p:nvSpPr>
          <p:cNvPr id="16" name="Shape 13"/>
          <p:cNvSpPr/>
          <p:nvPr/>
        </p:nvSpPr>
        <p:spPr>
          <a:xfrm>
            <a:off x="594360" y="5257800"/>
            <a:ext cx="146304" cy="146304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1297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and analyze the design in Xilinx Vivado with power &amp; utilization reports</a:t>
            </a:r>
            <a:endParaRPr lang="en-US" sz="1400" b="1" dirty="0"/>
          </a:p>
        </p:txBody>
      </p:sp>
      <p:sp>
        <p:nvSpPr>
          <p:cNvPr id="18" name="Shape 15"/>
          <p:cNvSpPr/>
          <p:nvPr/>
        </p:nvSpPr>
        <p:spPr>
          <a:xfrm>
            <a:off x="594360" y="5678424"/>
            <a:ext cx="146304" cy="146304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5504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RTL schematic, simulation waveforms, and verification results</a:t>
            </a:r>
            <a:endParaRPr lang="en-US" sz="1400" b="1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7A9CF484-8167-CC13-4CE2-8C6EAF32138C}"/>
              </a:ext>
            </a:extLst>
          </p:cNvPr>
          <p:cNvSpPr/>
          <p:nvPr/>
        </p:nvSpPr>
        <p:spPr>
          <a:xfrm>
            <a:off x="9416877" y="45476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C7089B-BB58-0911-7E34-25276876E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250" y="227237"/>
            <a:ext cx="2554968" cy="858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0447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pic>
        <p:nvPicPr>
          <p:cNvPr id="3" name="Image 0" descr="images/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56616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41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kern="0" spc="200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OPERATIONS &amp; OUTPUTS</a:t>
            </a:r>
            <a:endParaRPr lang="en-US" u="sng" dirty="0"/>
          </a:p>
        </p:txBody>
      </p:sp>
      <p:sp>
        <p:nvSpPr>
          <p:cNvPr id="5" name="Text 2"/>
          <p:cNvSpPr/>
          <p:nvPr/>
        </p:nvSpPr>
        <p:spPr>
          <a:xfrm>
            <a:off x="548640" y="11155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 Architecture &amp; Signal Flow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Specification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57784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SEL[2:0]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selector (opcode)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/ Borrow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when RESULT =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 Opcode Map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40280"/>
          <a:ext cx="5212080" cy="283921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 (with COUT)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B  (with BORROW)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&amp;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|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^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&lt;&lt;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&gt;&gt;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78231" y="5428881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6EF"/>
          </a:solidFill>
          <a:ln w="12700">
            <a:solidFill>
              <a:srgbClr val="CFE9D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5460885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mirrors the adder COUT / subtractor BORROW for ADD and SUB only.   ZERO asserts (combinationally) whenever RESULT == 8'b00000000.</a:t>
            </a:r>
            <a:endParaRPr lang="en-US" sz="115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EC0D122D-6CCC-E628-798C-0BF20553920E}"/>
              </a:ext>
            </a:extLst>
          </p:cNvPr>
          <p:cNvSpPr/>
          <p:nvPr/>
        </p:nvSpPr>
        <p:spPr>
          <a:xfrm>
            <a:off x="9438968" y="292608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5B7EE3-1AE3-00D7-D897-D37A55E9E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77" y="412168"/>
            <a:ext cx="2554968" cy="858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0447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3" name="Image 0" descr="images/icon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56616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39" y="250081"/>
            <a:ext cx="265901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MODULE</a:t>
            </a:r>
            <a:endParaRPr lang="en-US" sz="2000" b="1" u="sng" dirty="0">
              <a:solidFill>
                <a:srgbClr val="00B05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39" y="752455"/>
            <a:ext cx="58957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Verilog HDL Design — </a:t>
            </a:r>
            <a:r>
              <a:rPr lang="en-US" sz="3000" b="1" dirty="0" err="1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alu_top.v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-457200" y="1229865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42240" y="1601901"/>
            <a:ext cx="5394960" cy="4115746"/>
          </a:xfrm>
          <a:prstGeom prst="roundRect">
            <a:avLst>
              <a:gd name="adj" fmla="val 1348"/>
            </a:avLst>
          </a:prstGeom>
          <a:solidFill>
            <a:srgbClr val="0E1A2E"/>
          </a:solidFill>
          <a:ln w="12700">
            <a:solidFill>
              <a:srgbClr val="1F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832" y="1758295"/>
            <a:ext cx="5065776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alu_top(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[7:0] A,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[7:0] B,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[2:0] SEL,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reg [7:0] RESULT,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reg       CARRY,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          ZERO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[7:0] sum, diff, and_out, or_out;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[7:0] xor_out, not_out, shl_out, shr_out;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add_carry, sub_borrow;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adder U1(.A(A), .B(B), .SUM(sum), .COUT(add_carry));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subtractor U2(.A(A), .B(B), .DIFF(diff),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.BORROW(sub_borrow));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and_gate U3(.A(A), .B(B), .Y(and_out));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or_gate  U4(.A(A), .B(B), .Y(or_out));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xor_gate U5(.A(A), .B(B), .Y(xor_out));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not_gate U6(.A(A), .Y(not_out));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shifter  U7(.A(A), .dir(1'b0), .Y(shl_out));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shifter  U8(.A(A), .dir(1'b1), .Y(shr_out));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01792" y="1601901"/>
            <a:ext cx="5440680" cy="4069080"/>
          </a:xfrm>
          <a:prstGeom prst="roundRect">
            <a:avLst>
              <a:gd name="adj" fmla="val 1348"/>
            </a:avLst>
          </a:prstGeom>
          <a:solidFill>
            <a:srgbClr val="0E1A2E"/>
          </a:solidFill>
          <a:ln w="12700">
            <a:solidFill>
              <a:srgbClr val="1F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53470" y="1910001"/>
            <a:ext cx="5111496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CARRY = 0;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case(SEL)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3'b000: begin RESULT = sum;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CARRY = add_carry; end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3'b001: begin RESULT = diff;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CARRY = sub_borrow; end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3'b010: RESULT = and_out;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3'b011: RESULT = or_out;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3'b100: RESULT = xor_out;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3'b101: RESULT = not_out;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3'b110: RESULT = shl_out;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3'b111: RESULT = shr_out;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default: RESULT = 8'b0;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endcase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Zero Flag Assignment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ZERO = (RESULT == 8'b00000000);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D1C942A1-55D9-D794-9377-02560150C66F}"/>
              </a:ext>
            </a:extLst>
          </p:cNvPr>
          <p:cNvSpPr/>
          <p:nvPr/>
        </p:nvSpPr>
        <p:spPr>
          <a:xfrm>
            <a:off x="9438968" y="292608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CB1BC4-EB94-7C05-4BFA-F7E48B6B7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77" y="412168"/>
            <a:ext cx="2554968" cy="858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8412ADB-A50B-33B7-EC6F-7DFC134C0D56}"/>
              </a:ext>
            </a:extLst>
          </p:cNvPr>
          <p:cNvSpPr/>
          <p:nvPr/>
        </p:nvSpPr>
        <p:spPr>
          <a:xfrm>
            <a:off x="447039" y="317861"/>
            <a:ext cx="6113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Verilog HDL Design — </a:t>
            </a:r>
            <a:r>
              <a:rPr lang="en-US" sz="3000" b="1" dirty="0" err="1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alu_top_tb.v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43AF7-0448-B1DE-A564-C444F1AF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877" y="214338"/>
            <a:ext cx="2554968" cy="858157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C419BBBF-1D2E-CA40-8F10-42BEE5751876}"/>
              </a:ext>
            </a:extLst>
          </p:cNvPr>
          <p:cNvSpPr/>
          <p:nvPr/>
        </p:nvSpPr>
        <p:spPr>
          <a:xfrm>
            <a:off x="258355" y="957942"/>
            <a:ext cx="3597102" cy="5152571"/>
          </a:xfrm>
          <a:prstGeom prst="roundRect">
            <a:avLst>
              <a:gd name="adj" fmla="val 1348"/>
            </a:avLst>
          </a:prstGeom>
          <a:solidFill>
            <a:srgbClr val="0E1A2E"/>
          </a:solidFill>
          <a:ln w="12700">
            <a:solidFill>
              <a:srgbClr val="1F3A5C"/>
            </a:solidFill>
            <a:prstDash val="solid"/>
          </a:ln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1BA344E-1F6D-48E4-33CD-F6D80F847704}"/>
              </a:ext>
            </a:extLst>
          </p:cNvPr>
          <p:cNvSpPr/>
          <p:nvPr/>
        </p:nvSpPr>
        <p:spPr>
          <a:xfrm>
            <a:off x="7910285" y="957942"/>
            <a:ext cx="4061559" cy="5152571"/>
          </a:xfrm>
          <a:prstGeom prst="roundRect">
            <a:avLst>
              <a:gd name="adj" fmla="val 1072"/>
            </a:avLst>
          </a:prstGeom>
          <a:solidFill>
            <a:srgbClr val="0E1A2E"/>
          </a:solidFill>
          <a:ln w="12700">
            <a:solidFill>
              <a:srgbClr val="1F3A5C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47A8E-EC87-24C3-60E4-A29D10CE13FB}"/>
              </a:ext>
            </a:extLst>
          </p:cNvPr>
          <p:cNvSpPr txBox="1"/>
          <p:nvPr/>
        </p:nvSpPr>
        <p:spPr>
          <a:xfrm>
            <a:off x="258353" y="957943"/>
            <a:ext cx="3597104" cy="530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`</a:t>
            </a:r>
            <a:r>
              <a:rPr lang="en-IN" sz="1050" dirty="0">
                <a:solidFill>
                  <a:schemeClr val="bg1"/>
                </a:solidFill>
              </a:rPr>
              <a:t>timescale 1ns / 1ps</a:t>
            </a:r>
          </a:p>
          <a:p>
            <a:r>
              <a:rPr lang="en-IN" sz="1050" dirty="0">
                <a:solidFill>
                  <a:schemeClr val="bg1"/>
                </a:solidFill>
              </a:rPr>
              <a:t>module </a:t>
            </a:r>
            <a:r>
              <a:rPr lang="en-IN" sz="1050" dirty="0" err="1">
                <a:solidFill>
                  <a:schemeClr val="bg1"/>
                </a:solidFill>
              </a:rPr>
              <a:t>alu_tb</a:t>
            </a:r>
            <a:r>
              <a:rPr lang="en-IN" sz="1050" dirty="0">
                <a:solidFill>
                  <a:schemeClr val="bg1"/>
                </a:solidFill>
              </a:rPr>
              <a:t>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050" dirty="0">
                <a:solidFill>
                  <a:schemeClr val="bg1"/>
                </a:solidFill>
              </a:rPr>
              <a:t>    reg [7:0] A;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reg [7:0] B;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reg [2:0] SEL;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wire [7:0] RESULT;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wire       CARRY;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wire       ZERO;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</a:t>
            </a:r>
            <a:r>
              <a:rPr lang="en-IN" sz="1050" dirty="0" err="1">
                <a:solidFill>
                  <a:schemeClr val="bg1"/>
                </a:solidFill>
              </a:rPr>
              <a:t>alu_top</a:t>
            </a:r>
            <a:r>
              <a:rPr lang="en-IN" sz="1050" dirty="0">
                <a:solidFill>
                  <a:schemeClr val="bg1"/>
                </a:solidFill>
              </a:rPr>
              <a:t> </a:t>
            </a:r>
            <a:r>
              <a:rPr lang="en-IN" sz="1050" dirty="0" err="1">
                <a:solidFill>
                  <a:schemeClr val="bg1"/>
                </a:solidFill>
              </a:rPr>
              <a:t>uut</a:t>
            </a:r>
            <a:r>
              <a:rPr lang="en-IN" sz="1050" dirty="0">
                <a:solidFill>
                  <a:schemeClr val="bg1"/>
                </a:solidFill>
              </a:rPr>
              <a:t> (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.A(A),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.B(B),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.SEL(SEL),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.RESULT(RESULT),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.CARRY(CARRY),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.ZERO(ZERO) );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task show;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input [23:0] </a:t>
            </a:r>
            <a:r>
              <a:rPr lang="en-IN" sz="1050" dirty="0" err="1">
                <a:solidFill>
                  <a:schemeClr val="bg1"/>
                </a:solidFill>
              </a:rPr>
              <a:t>op_name</a:t>
            </a:r>
            <a:r>
              <a:rPr lang="en-IN" sz="1050" dirty="0">
                <a:solidFill>
                  <a:schemeClr val="bg1"/>
                </a:solidFill>
              </a:rPr>
              <a:t>;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begin</a:t>
            </a:r>
          </a:p>
          <a:p>
            <a:r>
              <a:rPr lang="en-IN" sz="1000" dirty="0">
                <a:solidFill>
                  <a:schemeClr val="bg1"/>
                </a:solidFill>
              </a:rPr>
              <a:t> $display("%-6s | A=%h  B=%h | RESULT=%h  CARRY=%b  ZERO=%b", </a:t>
            </a:r>
            <a:r>
              <a:rPr lang="en-IN" sz="1000" dirty="0" err="1">
                <a:solidFill>
                  <a:schemeClr val="bg1"/>
                </a:solidFill>
              </a:rPr>
              <a:t>op_name</a:t>
            </a:r>
            <a:r>
              <a:rPr lang="en-IN" sz="1000" dirty="0">
                <a:solidFill>
                  <a:schemeClr val="bg1"/>
                </a:solidFill>
              </a:rPr>
              <a:t>, A, B, RESULT, CARRY, ZERO);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end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</a:t>
            </a:r>
            <a:r>
              <a:rPr lang="en-IN" sz="1000" dirty="0" err="1">
                <a:solidFill>
                  <a:schemeClr val="bg1"/>
                </a:solidFill>
              </a:rPr>
              <a:t>endtask</a:t>
            </a:r>
            <a:endParaRPr lang="en-IN" sz="1000" dirty="0">
              <a:solidFill>
                <a:schemeClr val="bg1"/>
              </a:solidFill>
            </a:endParaRPr>
          </a:p>
          <a:p>
            <a:r>
              <a:rPr lang="en-IN" sz="1000" dirty="0">
                <a:solidFill>
                  <a:schemeClr val="bg1"/>
                </a:solidFill>
              </a:rPr>
              <a:t>    initial begin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// Initialize everything to 0 first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A = 8'h00; B = 8'h00; SEL = 3'b000;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#10; // wait for signals to settle </a:t>
            </a:r>
            <a:r>
              <a:rPr lang="en-IN" sz="900" dirty="0">
                <a:solidFill>
                  <a:schemeClr val="bg1"/>
                </a:solidFill>
              </a:rPr>
              <a:t>$display("==========================================");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$display(" 8-BIT ALU TESTBENCH RESULTS"); $display("==========================================");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// ══ SEL=000 : ADD ══════════════════════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$display("--- ADD ---");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SEL = 3'b000;</a:t>
            </a:r>
          </a:p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4A5C3-8012-F11E-D1B3-C9D10A96C643}"/>
              </a:ext>
            </a:extLst>
          </p:cNvPr>
          <p:cNvSpPr txBox="1"/>
          <p:nvPr/>
        </p:nvSpPr>
        <p:spPr>
          <a:xfrm>
            <a:off x="7910285" y="957943"/>
            <a:ext cx="402336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500" dirty="0">
              <a:solidFill>
                <a:schemeClr val="bg1"/>
              </a:solidFill>
            </a:endParaRPr>
          </a:p>
          <a:p>
            <a:r>
              <a:rPr lang="en-IN" sz="900" dirty="0">
                <a:solidFill>
                  <a:schemeClr val="bg1"/>
                </a:solidFill>
              </a:rPr>
              <a:t>SEL = 3'b101;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8'hAA; B = 8'h00; #20; show("NOT");  // 55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8'hFF; B = 8'h00; #20; show("NOT");  // 00 ZERO=1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8'h00; B = 8'h00; #20; show("NOT");  // FF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#50;</a:t>
            </a:r>
          </a:p>
          <a:p>
            <a:endParaRPr lang="en-IN" sz="900" dirty="0">
              <a:solidFill>
                <a:schemeClr val="bg1"/>
              </a:solidFill>
            </a:endParaRPr>
          </a:p>
          <a:p>
            <a:r>
              <a:rPr lang="en-IN" sz="900" dirty="0">
                <a:solidFill>
                  <a:schemeClr val="bg1"/>
                </a:solidFill>
              </a:rPr>
              <a:t>        // ══ SEL=110 : SHL ══════════════════════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$display("--- SHL ---");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SEL = 3'b110;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8'h0F; B = 8'h00; #20; show("SHL");  // 1E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8'h01; B = 8'h00; #20; show("SHL");  // 02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8'h80; B = 8'h00; #20; show("SHL");  // 00 ZERO=1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#50;</a:t>
            </a:r>
          </a:p>
          <a:p>
            <a:endParaRPr lang="en-IN" sz="900" dirty="0">
              <a:solidFill>
                <a:schemeClr val="bg1"/>
              </a:solidFill>
            </a:endParaRPr>
          </a:p>
          <a:p>
            <a:r>
              <a:rPr lang="en-IN" sz="900" dirty="0">
                <a:solidFill>
                  <a:schemeClr val="bg1"/>
                </a:solidFill>
              </a:rPr>
              <a:t>        // ══ SEL=111 : SHR ══════════════════════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$display("--- SHR ---");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SEL = 3'b111;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8'hF0; B = 8'h00; #20; show("SHR");  // 78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8'hAA; B = 8'h00; #20; show("SHR");  // 55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A = 8'h01; B = 8'h00; #20; show("SHR");  // 00 ZERO=1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#50;</a:t>
            </a:r>
          </a:p>
          <a:p>
            <a:endParaRPr lang="en-IN" sz="900" dirty="0">
              <a:solidFill>
                <a:schemeClr val="bg1"/>
              </a:solidFill>
            </a:endParaRPr>
          </a:p>
          <a:p>
            <a:r>
              <a:rPr lang="en-IN" sz="900" dirty="0">
                <a:solidFill>
                  <a:schemeClr val="bg1"/>
                </a:solidFill>
              </a:rPr>
              <a:t>        $display("==========================================");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$display(" SIMULATION COMPLETE - ALL 8 OPS DONE");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$display("==========================================");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$finish;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end</a:t>
            </a:r>
          </a:p>
          <a:p>
            <a:endParaRPr lang="en-IN" sz="900" dirty="0">
              <a:solidFill>
                <a:schemeClr val="bg1"/>
              </a:solidFill>
            </a:endParaRPr>
          </a:p>
          <a:p>
            <a:r>
              <a:rPr lang="en-IN" sz="900" dirty="0">
                <a:solidFill>
                  <a:schemeClr val="bg1"/>
                </a:solidFill>
              </a:rPr>
              <a:t>    // Single monitor - no race condition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initial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$monitor("t=%0t ns | SEL=%b A=%h B=%h | RESULT=%h CARRY=%b ZERO=%b",</a:t>
            </a:r>
          </a:p>
          <a:p>
            <a:r>
              <a:rPr lang="en-IN" sz="900" dirty="0">
                <a:solidFill>
                  <a:schemeClr val="bg1"/>
                </a:solidFill>
              </a:rPr>
              <a:t>                 $time, SEL, A, B, RESULT, CARRY, ZERO);</a:t>
            </a:r>
          </a:p>
          <a:p>
            <a:endParaRPr lang="en-IN" sz="900" dirty="0">
              <a:solidFill>
                <a:schemeClr val="bg1"/>
              </a:solidFill>
            </a:endParaRPr>
          </a:p>
          <a:p>
            <a:r>
              <a:rPr lang="en-IN" sz="900" dirty="0" err="1">
                <a:solidFill>
                  <a:schemeClr val="bg1"/>
                </a:solidFill>
              </a:rPr>
              <a:t>endmodule</a:t>
            </a:r>
            <a:endParaRPr lang="en-IN" sz="9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2C40575-D047-E4E6-2FFD-C88277183277}"/>
              </a:ext>
            </a:extLst>
          </p:cNvPr>
          <p:cNvSpPr/>
          <p:nvPr/>
        </p:nvSpPr>
        <p:spPr>
          <a:xfrm>
            <a:off x="4075149" y="957942"/>
            <a:ext cx="3597102" cy="5152571"/>
          </a:xfrm>
          <a:prstGeom prst="roundRect">
            <a:avLst>
              <a:gd name="adj" fmla="val 1348"/>
            </a:avLst>
          </a:prstGeom>
          <a:solidFill>
            <a:srgbClr val="0E1A2E"/>
          </a:solidFill>
          <a:ln w="12700">
            <a:solidFill>
              <a:srgbClr val="1F3A5C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1EF67-CADF-CD60-BEDC-E53D4BF33640}"/>
              </a:ext>
            </a:extLst>
          </p:cNvPr>
          <p:cNvSpPr txBox="1"/>
          <p:nvPr/>
        </p:nvSpPr>
        <p:spPr>
          <a:xfrm>
            <a:off x="4093491" y="957943"/>
            <a:ext cx="3424909" cy="516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A = 8'h0F; B = 8'h0F; #20; show("ADD");  // 0F+0F=1E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A = 8'hFF; B = 8'h01; #20; show("ADD");  // overflow CARRY=1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A = 8'h00; B = 8'h00; #20; show("ADD");  // ZERO=1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#50;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// ══ SEL=001 : SUB ══════════════════════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$display("--- SUB ---");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SEL = 3'b001;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A = 8'hFF; B = 8'h01; #20; show("SUB");  // FF-01=FE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A = 8'h0A; B = 8'h05; #20; show("SUB");  // 0A-05=05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A = 8'h00; B = 8'h01; #20; show("SUB");  // borrow CARRY=1</a:t>
            </a:r>
          </a:p>
          <a:p>
            <a:r>
              <a:rPr lang="en-IN" sz="700" dirty="0">
                <a:solidFill>
                  <a:schemeClr val="bg1"/>
                </a:solidFill>
              </a:rPr>
              <a:t>#50;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// ══ SEL=010 : AND ══════════════════════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$display("--- AND ---");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SEL = 3'b010;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8'hFF; B = 8'hF0; #20; show("AND");  // F0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8'hAA; B = 8'h55; #20; show("AND");  // 00 ZERO=1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8'h0F; B = 8'hF0; #20; show("AND");  // 00 ZERO=1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#50;</a:t>
            </a:r>
          </a:p>
          <a:p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        // ══ SEL=011 : OR ═══════════════════════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$display("--- OR  ---");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SEL = 3'b011;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8'hAA; B = 8'h55; #20; show("OR");   // FF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8'h0F; B = 8'hF0; #20; show("OR");   // FF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8'h00; B = 8'h00; #20; show("OR");   // 00 ZERO=1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#50;</a:t>
            </a:r>
          </a:p>
          <a:p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        // ══ SEL=100 : XOR ══════════════════════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$display("--- XOR ---");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SEL = 3'b100;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8'hFF; B = 8'hFF; #20; show("XOR");  // 00 ZERO=1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8'hAA; B = 8'h55; #20; show("XOR");  // FF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A = 8'hF0; B = 8'h0F; #20; show("XOR");  // FF</a:t>
            </a:r>
          </a:p>
          <a:p>
            <a:r>
              <a:rPr lang="en-IN" sz="700" dirty="0">
                <a:solidFill>
                  <a:schemeClr val="bg1"/>
                </a:solidFill>
              </a:rPr>
              <a:t>        #50;</a:t>
            </a:r>
          </a:p>
          <a:p>
            <a:r>
              <a:rPr lang="en-IN" sz="1000" dirty="0">
                <a:solidFill>
                  <a:schemeClr val="bg1"/>
                </a:solidFill>
              </a:rPr>
              <a:t> // ══ SEL=101 : NOT ══════════════════════</a:t>
            </a:r>
          </a:p>
          <a:p>
            <a:r>
              <a:rPr lang="en-IN" sz="1000" dirty="0">
                <a:solidFill>
                  <a:schemeClr val="bg1"/>
                </a:solidFill>
              </a:rPr>
              <a:t>        $display("--- NOT ---");</a:t>
            </a:r>
          </a:p>
        </p:txBody>
      </p:sp>
    </p:spTree>
    <p:extLst>
      <p:ext uri="{BB962C8B-B14F-4D97-AF65-F5344CB8AC3E}">
        <p14:creationId xmlns:p14="http://schemas.microsoft.com/office/powerpoint/2010/main" val="3137090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97961" y="292608"/>
            <a:ext cx="2236534" cy="1241224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2868"/>
            <a:ext cx="3079242" cy="641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kern="0" spc="200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u="sng" dirty="0"/>
          </a:p>
        </p:txBody>
      </p:sp>
      <p:sp>
        <p:nvSpPr>
          <p:cNvPr id="5" name="Text 2"/>
          <p:cNvSpPr/>
          <p:nvPr/>
        </p:nvSpPr>
        <p:spPr>
          <a:xfrm>
            <a:off x="548640" y="11155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Sub-Module Design — One Block Per Operation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209397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adder.v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3232" y="244144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44144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{COUT,SUM} = A + B;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323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ripple addition with carry-out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71850" y="19659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36442" y="209397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subtractor.v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36442" y="244144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3627882" y="244144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{BORROW,DIFF} = A - B;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53644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subtraction with borrow-out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5060" y="19659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9652" y="209397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and_gate.v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59652" y="244144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19" name="Text 16"/>
          <p:cNvSpPr/>
          <p:nvPr/>
        </p:nvSpPr>
        <p:spPr>
          <a:xfrm>
            <a:off x="6451092" y="244144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Y = A &amp; B;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5965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AND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018270" y="19659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82862" y="209397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or_gate.v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82862" y="244144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24" name="Text 21"/>
          <p:cNvSpPr/>
          <p:nvPr/>
        </p:nvSpPr>
        <p:spPr>
          <a:xfrm>
            <a:off x="9274302" y="244144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Y = A | B;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18286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3232" y="410565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xor_gate.v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13232" y="445312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29" name="Text 26"/>
          <p:cNvSpPr/>
          <p:nvPr/>
        </p:nvSpPr>
        <p:spPr>
          <a:xfrm>
            <a:off x="804672" y="445312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Y = A ^ B;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3232" y="498348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XOR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71850" y="397764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536442" y="410565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not_gate.v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536442" y="445312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34" name="Text 31"/>
          <p:cNvSpPr/>
          <p:nvPr/>
        </p:nvSpPr>
        <p:spPr>
          <a:xfrm>
            <a:off x="3627882" y="445312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Y = ~A;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536442" y="498348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inversion of 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95060" y="397764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359652" y="410565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shifter.v (dir=0)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359652" y="445312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39" name="Text 36"/>
          <p:cNvSpPr/>
          <p:nvPr/>
        </p:nvSpPr>
        <p:spPr>
          <a:xfrm>
            <a:off x="6451092" y="445312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Y = A &lt;&lt; 1;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359652" y="498348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left shift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018270" y="397764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9182862" y="4105656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shifter.v (dir=1)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182862" y="4453128"/>
            <a:ext cx="2265426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44" name="Text 41"/>
          <p:cNvSpPr/>
          <p:nvPr/>
        </p:nvSpPr>
        <p:spPr>
          <a:xfrm>
            <a:off x="9274302" y="4453128"/>
            <a:ext cx="2082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Y = A &gt;&gt; 1;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9182862" y="498348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right shift</a:t>
            </a:r>
            <a:endParaRPr lang="en-US" sz="1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FE90C6B-C60E-6980-6EB4-5B7C1B31E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002" y="382868"/>
            <a:ext cx="2330494" cy="1033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38968" y="292608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1781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STRATEGY</a:t>
            </a:r>
            <a:endParaRPr lang="en-US" u="sng" dirty="0">
              <a:solidFill>
                <a:srgbClr val="00B05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51899" y="1899071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Testbench Design — alu_tb.v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3232" y="2212848"/>
            <a:ext cx="6080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6948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Opcode Coverage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69480" y="25146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2514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8388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 — incl. carry-out &amp; zero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269480" y="293522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29352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83880" y="29352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borrow &amp;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269480" y="335584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17" name="Text 14"/>
          <p:cNvSpPr/>
          <p:nvPr/>
        </p:nvSpPr>
        <p:spPr>
          <a:xfrm>
            <a:off x="7269480" y="33558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8388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269480" y="37764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20" name="Text 17"/>
          <p:cNvSpPr/>
          <p:nvPr/>
        </p:nvSpPr>
        <p:spPr>
          <a:xfrm>
            <a:off x="7269480" y="3776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83880" y="3776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269480" y="419709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23" name="Text 20"/>
          <p:cNvSpPr/>
          <p:nvPr/>
        </p:nvSpPr>
        <p:spPr>
          <a:xfrm>
            <a:off x="7269480" y="41970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83880" y="41970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269480" y="461772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26" name="Text 23"/>
          <p:cNvSpPr/>
          <p:nvPr/>
        </p:nvSpPr>
        <p:spPr>
          <a:xfrm>
            <a:off x="7269480" y="4617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8388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269480" y="503834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29" name="Text 26"/>
          <p:cNvSpPr/>
          <p:nvPr/>
        </p:nvSpPr>
        <p:spPr>
          <a:xfrm>
            <a:off x="7269480" y="5038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183880" y="50383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269480" y="54589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7A47"/>
          </a:solidFill>
          <a:ln/>
        </p:spPr>
      </p:sp>
      <p:sp>
        <p:nvSpPr>
          <p:cNvPr id="32" name="Text 29"/>
          <p:cNvSpPr/>
          <p:nvPr/>
        </p:nvSpPr>
        <p:spPr>
          <a:xfrm>
            <a:off x="7269480" y="54589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83880" y="5458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vectors  — incl. zero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E7F4D61-DE16-72F8-0DBC-EEDFE4E7E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9" y="405485"/>
            <a:ext cx="2652420" cy="9615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182CF97-D45F-22E0-C061-EA1FFFB47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8" y="623012"/>
            <a:ext cx="7085922" cy="5521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0447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pic>
        <p:nvPicPr>
          <p:cNvPr id="3" name="Image 0" descr="images/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56616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41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kern="0" spc="200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VECTOR ANALYSIS</a:t>
            </a:r>
            <a:endParaRPr lang="en-US" sz="1600" u="sng" dirty="0"/>
          </a:p>
        </p:txBody>
      </p:sp>
      <p:sp>
        <p:nvSpPr>
          <p:cNvPr id="5" name="Text 2"/>
          <p:cNvSpPr/>
          <p:nvPr/>
        </p:nvSpPr>
        <p:spPr>
          <a:xfrm>
            <a:off x="548640" y="11155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Waveform Analysis &amp; Verification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149840" cy="3063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94360" y="5458968"/>
            <a:ext cx="118872" cy="118872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349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test vectors across the eight opcodes produce correct results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4360" y="5733288"/>
            <a:ext cx="118872" cy="118872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6" name="Text 7"/>
          <p:cNvSpPr/>
          <p:nvPr/>
        </p:nvSpPr>
        <p:spPr>
          <a:xfrm>
            <a:off x="868680" y="5623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correctly asserts whenever RESULT == 0 (AND, XOR, SHL, SHR cases)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4360" y="6007608"/>
            <a:ext cx="118872" cy="118872"/>
          </a:xfrm>
          <a:prstGeom prst="ellipse">
            <a:avLst/>
          </a:prstGeom>
          <a:solidFill>
            <a:srgbClr val="157A47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5897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mirrors adder COUT on overflow and subtractor BORROW on underflow</a:t>
            </a:r>
            <a:endParaRPr lang="en-US" sz="110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BE528A0C-43BF-645D-4449-00DFBFD40F27}"/>
              </a:ext>
            </a:extLst>
          </p:cNvPr>
          <p:cNvSpPr/>
          <p:nvPr/>
        </p:nvSpPr>
        <p:spPr>
          <a:xfrm>
            <a:off x="9438968" y="292608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ECA70B-9ED5-F9E6-E538-808794270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77" y="412168"/>
            <a:ext cx="2554968" cy="858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49613" y="50079"/>
            <a:ext cx="2554968" cy="1123237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4" name="Text 1"/>
          <p:cNvSpPr/>
          <p:nvPr/>
        </p:nvSpPr>
        <p:spPr>
          <a:xfrm>
            <a:off x="457200" y="-38411"/>
            <a:ext cx="2267131" cy="640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kern="0" spc="200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VIEW</a:t>
            </a:r>
            <a:endParaRPr lang="en-US" u="sng" dirty="0"/>
          </a:p>
        </p:txBody>
      </p:sp>
      <p:sp>
        <p:nvSpPr>
          <p:cNvPr id="5" name="Text 2"/>
          <p:cNvSpPr/>
          <p:nvPr/>
        </p:nvSpPr>
        <p:spPr>
          <a:xfrm>
            <a:off x="457200" y="32971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Schematic — Xilinx Vivado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7" name="Image 1" descr="images/assets/schematic.png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1060768"/>
            <a:ext cx="12192000" cy="5413183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8" name="Text 4"/>
          <p:cNvSpPr/>
          <p:nvPr/>
        </p:nvSpPr>
        <p:spPr>
          <a:xfrm>
            <a:off x="6516914" y="5337192"/>
            <a:ext cx="4830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Cells  |  29 I/O Ports  |  97 Nets — eight operation sub-modules feeding two output multiplexers (RESULT, CARRY) and a zero comparator.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C786EF-D871-E5CC-D567-309E49E7D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613" y="126345"/>
            <a:ext cx="2554968" cy="8581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6238" y="106631"/>
            <a:ext cx="2192289" cy="1137986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"/>
            <a:ext cx="3254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VERIFICATION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83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Waveform </a:t>
            </a:r>
            <a:r>
              <a:rPr lang="en-US" sz="3000" b="1" dirty="0">
                <a:solidFill>
                  <a:schemeClr val="bg1"/>
                </a:solidFill>
                <a:effectLst>
                  <a:glow rad="165100">
                    <a:schemeClr val="accent1">
                      <a:alpha val="39000"/>
                    </a:scheme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>
              <a:solidFill>
                <a:schemeClr val="bg1"/>
              </a:solidFill>
              <a:effectLst>
                <a:glow rad="165100">
                  <a:schemeClr val="accent1">
                    <a:alpha val="39000"/>
                  </a:schemeClr>
                </a:glow>
              </a:effectLst>
            </a:endParaRPr>
          </a:p>
        </p:txBody>
      </p:sp>
      <p:pic>
        <p:nvPicPr>
          <p:cNvPr id="7" name="Image 1" descr="images/assets/Simulation/add_gate_sim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53" y="1280160"/>
            <a:ext cx="11914222" cy="406907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349240"/>
            <a:ext cx="2075688" cy="548640"/>
          </a:xfrm>
          <a:prstGeom prst="roundRect">
            <a:avLst>
              <a:gd name="adj" fmla="val 11667"/>
            </a:avLst>
          </a:prstGeom>
          <a:solidFill>
            <a:srgbClr val="157A47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53492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
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0F+0F=1E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34056" y="5349240"/>
            <a:ext cx="2075688" cy="548640"/>
          </a:xfrm>
          <a:prstGeom prst="roundRect">
            <a:avLst>
              <a:gd name="adj" fmla="val 11667"/>
            </a:avLst>
          </a:prstGeom>
          <a:solidFill>
            <a:srgbClr val="157A47"/>
          </a:solidFill>
          <a:ln/>
        </p:spPr>
      </p:sp>
      <p:sp>
        <p:nvSpPr>
          <p:cNvPr id="11" name="Text 7"/>
          <p:cNvSpPr/>
          <p:nvPr/>
        </p:nvSpPr>
        <p:spPr>
          <a:xfrm>
            <a:off x="2734056" y="53492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
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FF-01=FE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919472" y="5349240"/>
            <a:ext cx="2075688" cy="548640"/>
          </a:xfrm>
          <a:prstGeom prst="roundRect">
            <a:avLst>
              <a:gd name="adj" fmla="val 11667"/>
            </a:avLst>
          </a:prstGeom>
          <a:solidFill>
            <a:srgbClr val="157A47"/>
          </a:solidFill>
          <a:ln/>
        </p:spPr>
      </p:sp>
      <p:sp>
        <p:nvSpPr>
          <p:cNvPr id="13" name="Text 9"/>
          <p:cNvSpPr/>
          <p:nvPr/>
        </p:nvSpPr>
        <p:spPr>
          <a:xfrm>
            <a:off x="4919472" y="53492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
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AA&amp;55=00, Z=1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04888" y="5349240"/>
            <a:ext cx="2075688" cy="548640"/>
          </a:xfrm>
          <a:prstGeom prst="roundRect">
            <a:avLst>
              <a:gd name="adj" fmla="val 11667"/>
            </a:avLst>
          </a:prstGeom>
          <a:solidFill>
            <a:srgbClr val="157A47"/>
          </a:solidFill>
          <a:ln/>
        </p:spPr>
      </p:sp>
      <p:sp>
        <p:nvSpPr>
          <p:cNvPr id="15" name="Text 11"/>
          <p:cNvSpPr/>
          <p:nvPr/>
        </p:nvSpPr>
        <p:spPr>
          <a:xfrm>
            <a:off x="7104888" y="53492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
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0F|F0=FF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290304" y="5349240"/>
            <a:ext cx="2075688" cy="548640"/>
          </a:xfrm>
          <a:prstGeom prst="roundRect">
            <a:avLst>
              <a:gd name="adj" fmla="val 11667"/>
            </a:avLst>
          </a:prstGeom>
          <a:solidFill>
            <a:srgbClr val="157A47"/>
          </a:solidFill>
          <a:ln/>
        </p:spPr>
      </p:sp>
      <p:sp>
        <p:nvSpPr>
          <p:cNvPr id="17" name="Text 13"/>
          <p:cNvSpPr/>
          <p:nvPr/>
        </p:nvSpPr>
        <p:spPr>
          <a:xfrm>
            <a:off x="9290304" y="53492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
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F0^0F=FF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9607EAF-389A-60B8-E17D-CE6F87E5E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238" y="71087"/>
            <a:ext cx="2247010" cy="11379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0447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pic>
        <p:nvPicPr>
          <p:cNvPr id="3" name="Image 0" descr="images/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56616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9651" y="210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IMPLEMENTATION REPORTS</a:t>
            </a:r>
            <a:endParaRPr lang="en-US" u="sng" dirty="0">
              <a:solidFill>
                <a:srgbClr val="00B05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09651" y="448747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Report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053431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Summary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141607"/>
              </p:ext>
            </p:extLst>
          </p:nvPr>
        </p:nvGraphicFramePr>
        <p:xfrm>
          <a:off x="409651" y="1373471"/>
          <a:ext cx="3883660" cy="1865376"/>
        </p:xfrm>
        <a:graphic>
          <a:graphicData uri="http://schemas.openxmlformats.org/drawingml/2006/table">
            <a:tbl>
              <a:tblPr/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On-Chip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0.189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•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 of dyn.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•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 of dyn.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96725" y="5031885"/>
            <a:ext cx="4197141" cy="502920"/>
          </a:xfrm>
          <a:prstGeom prst="roundRect">
            <a:avLst>
              <a:gd name="adj" fmla="val 12727"/>
            </a:avLst>
          </a:prstGeom>
          <a:solidFill>
            <a:srgbClr val="EAF6EF"/>
          </a:solidFill>
          <a:ln w="12700">
            <a:solidFill>
              <a:srgbClr val="CFE9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5"/>
          <p:cNvSpPr/>
          <p:nvPr/>
        </p:nvSpPr>
        <p:spPr>
          <a:xfrm>
            <a:off x="235467" y="5063107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Temp: 100.0°C   |   Thermal Margin: 0.0°C (0.8 W)   |   Confidence: Low</a:t>
            </a:r>
            <a:endParaRPr lang="en-US" sz="1000" b="1" dirty="0"/>
          </a:p>
        </p:txBody>
      </p:sp>
      <p:sp>
        <p:nvSpPr>
          <p:cNvPr id="10" name="Text 6"/>
          <p:cNvSpPr/>
          <p:nvPr/>
        </p:nvSpPr>
        <p:spPr>
          <a:xfrm>
            <a:off x="6172200" y="18745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7"/>
          <p:cNvSpPr/>
          <p:nvPr/>
        </p:nvSpPr>
        <p:spPr>
          <a:xfrm>
            <a:off x="6172200" y="365760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621B143C-1A12-9964-34E6-38CAAB764AED}"/>
              </a:ext>
            </a:extLst>
          </p:cNvPr>
          <p:cNvSpPr/>
          <p:nvPr/>
        </p:nvSpPr>
        <p:spPr>
          <a:xfrm>
            <a:off x="9438968" y="292608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DC2693-E81A-F0EE-89D2-FF7147F57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77" y="412168"/>
            <a:ext cx="2554968" cy="8581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603BEF-75AB-B057-6990-EAF51C384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75" y="1054557"/>
            <a:ext cx="7315200" cy="46243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1EFB6C-9B63-5BC6-B501-1D60237BF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936" y="1233714"/>
            <a:ext cx="7298064" cy="4746411"/>
          </a:xfrm>
          <a:prstGeom prst="rect">
            <a:avLst/>
          </a:prstGeom>
        </p:spPr>
      </p:pic>
      <p:graphicFrame>
        <p:nvGraphicFramePr>
          <p:cNvPr id="3" name="Table 1">
            <a:extLst>
              <a:ext uri="{FF2B5EF4-FFF2-40B4-BE49-F238E27FC236}">
                <a16:creationId xmlns:a16="http://schemas.microsoft.com/office/drawing/2014/main" id="{2252C07B-5C40-2A78-F4D0-839009CE3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612136"/>
              </p:ext>
            </p:extLst>
          </p:nvPr>
        </p:nvGraphicFramePr>
        <p:xfrm>
          <a:off x="331289" y="1411780"/>
          <a:ext cx="4438015" cy="1334008"/>
        </p:xfrm>
        <a:graphic>
          <a:graphicData uri="http://schemas.openxmlformats.org/drawingml/2006/table">
            <a:tbl>
              <a:tblPr/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CLB LUTs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 as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Bonded IOB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E7E466-E3BB-C037-849D-664F4F993F28}"/>
              </a:ext>
            </a:extLst>
          </p:cNvPr>
          <p:cNvSpPr txBox="1"/>
          <p:nvPr/>
        </p:nvSpPr>
        <p:spPr>
          <a:xfrm>
            <a:off x="245656" y="1010181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</a:t>
            </a:r>
            <a:endParaRPr lang="en-US" sz="1800" dirty="0"/>
          </a:p>
        </p:txBody>
      </p:sp>
      <p:pic>
        <p:nvPicPr>
          <p:cNvPr id="6" name="Image 1" descr="images/assets/device.png.png">
            <a:extLst>
              <a:ext uri="{FF2B5EF4-FFF2-40B4-BE49-F238E27FC236}">
                <a16:creationId xmlns:a16="http://schemas.microsoft.com/office/drawing/2014/main" id="{17378285-81C1-743B-9FB6-6AC3CDC40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94860"/>
            <a:ext cx="5074920" cy="1645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3E775F-1B8B-2A28-F110-1F829353C5F1}"/>
              </a:ext>
            </a:extLst>
          </p:cNvPr>
          <p:cNvSpPr txBox="1"/>
          <p:nvPr/>
        </p:nvSpPr>
        <p:spPr>
          <a:xfrm>
            <a:off x="68944" y="4388017"/>
            <a:ext cx="4438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hierarchy: </a:t>
            </a:r>
            <a:r>
              <a:rPr lang="en-US" sz="1800" b="1" i="1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alu_top</a:t>
            </a:r>
            <a:r>
              <a:rPr lang="en-US" sz="1800" b="1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single-level instantiation of 8 combinational sub-modules. Extremely lightweight footprint, well within a small FPGA's LUT budget.</a:t>
            </a:r>
            <a:endParaRPr lang="en-US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E9211-A438-405B-6C5C-60D427718C3A}"/>
              </a:ext>
            </a:extLst>
          </p:cNvPr>
          <p:cNvSpPr txBox="1"/>
          <p:nvPr/>
        </p:nvSpPr>
        <p:spPr>
          <a:xfrm>
            <a:off x="245656" y="388284"/>
            <a:ext cx="6103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Utilization Reports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546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F1A79-D679-82C4-28D8-725FD573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6" y="1118655"/>
            <a:ext cx="5963264" cy="4884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EB73D0-34CA-BCBE-CA58-CD61888F0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61" y="1118655"/>
            <a:ext cx="5761703" cy="4884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15B0D-021E-6D0F-2383-E62CF84633D3}"/>
              </a:ext>
            </a:extLst>
          </p:cNvPr>
          <p:cNvSpPr txBox="1"/>
          <p:nvPr/>
        </p:nvSpPr>
        <p:spPr>
          <a:xfrm>
            <a:off x="191729" y="270251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solidFill>
                  <a:srgbClr val="00B050"/>
                </a:solidFill>
              </a:rPr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2696437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03624" y="167095"/>
            <a:ext cx="4847771" cy="1250225"/>
          </a:xfrm>
          <a:prstGeom prst="rect">
            <a:avLst/>
          </a:prstGeom>
          <a:solidFill>
            <a:schemeClr val="tx2">
              <a:lumMod val="20000"/>
              <a:lumOff val="80000"/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09448" y="15544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2274A"/>
          </a:solidFill>
          <a:ln w="12700">
            <a:solidFill>
              <a:srgbClr val="2343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9488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29488" y="238658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8" name="Text 5"/>
          <p:cNvSpPr/>
          <p:nvPr/>
        </p:nvSpPr>
        <p:spPr>
          <a:xfrm>
            <a:off x="1203808" y="2185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 8-bit ALU with all 8 operations.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929488" y="298094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10" name="Text 7"/>
          <p:cNvSpPr/>
          <p:nvPr/>
        </p:nvSpPr>
        <p:spPr>
          <a:xfrm>
            <a:off x="1203808" y="28529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 through a self-checking </a:t>
            </a:r>
            <a:r>
              <a:rPr lang="en-US" dirty="0" err="1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</a:t>
            </a:r>
            <a:r>
              <a:rPr lang="en-US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testbench.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929488" y="357530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12" name="Text 9"/>
          <p:cNvSpPr/>
          <p:nvPr/>
        </p:nvSpPr>
        <p:spPr>
          <a:xfrm>
            <a:off x="1203808" y="3447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schematic, synthesis &amp; implementation completed.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929488" y="416966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14" name="Text 11"/>
          <p:cNvSpPr/>
          <p:nvPr/>
        </p:nvSpPr>
        <p:spPr>
          <a:xfrm>
            <a:off x="1203808" y="40416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 and resource utilization reports generated.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929488" y="476402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16" name="Text 13"/>
          <p:cNvSpPr/>
          <p:nvPr/>
        </p:nvSpPr>
        <p:spPr>
          <a:xfrm>
            <a:off x="1203808" y="46360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combinational design using always @(*).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370168" y="1542833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2274A"/>
          </a:solidFill>
          <a:ln w="12700">
            <a:solidFill>
              <a:srgbClr val="2343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0208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690208" y="238658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20" name="Text 17"/>
          <p:cNvSpPr/>
          <p:nvPr/>
        </p:nvSpPr>
        <p:spPr>
          <a:xfrm>
            <a:off x="6964528" y="2258568"/>
            <a:ext cx="41852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bg1"/>
                </a:solidFill>
              </a:rPr>
              <a:t>Add more operations (e.g., multiply, rotate, arithmetic shift).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90208" y="298094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22" name="Text 19"/>
          <p:cNvSpPr/>
          <p:nvPr/>
        </p:nvSpPr>
        <p:spPr>
          <a:xfrm>
            <a:off x="6964528" y="2916936"/>
            <a:ext cx="4617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bg1"/>
                </a:solidFill>
              </a:rPr>
              <a:t>Implement control signals for signed operations.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90208" y="357530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24" name="Text 21"/>
          <p:cNvSpPr/>
          <p:nvPr/>
        </p:nvSpPr>
        <p:spPr>
          <a:xfrm>
            <a:off x="6964528" y="3447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bg1"/>
                </a:solidFill>
              </a:rPr>
              <a:t>Add overflow detection.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90208" y="416966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26" name="Text 23"/>
          <p:cNvSpPr/>
          <p:nvPr/>
        </p:nvSpPr>
        <p:spPr>
          <a:xfrm>
            <a:off x="6964527" y="4041648"/>
            <a:ext cx="457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bg1"/>
                </a:solidFill>
              </a:rPr>
              <a:t>Create a synthesizable top module with clocked design.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690208" y="4764024"/>
            <a:ext cx="128016" cy="128016"/>
          </a:xfrm>
          <a:prstGeom prst="ellipse">
            <a:avLst/>
          </a:prstGeom>
          <a:solidFill>
            <a:srgbClr val="1F9D5C"/>
          </a:solidFill>
          <a:ln/>
        </p:spPr>
      </p:sp>
      <p:sp>
        <p:nvSpPr>
          <p:cNvPr id="28" name="Text 25"/>
          <p:cNvSpPr/>
          <p:nvPr/>
        </p:nvSpPr>
        <p:spPr>
          <a:xfrm>
            <a:off x="6964528" y="46360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bg1"/>
                </a:solidFill>
              </a:rPr>
              <a:t>FPGA implementation (</a:t>
            </a:r>
            <a:r>
              <a:rPr lang="en-IN" dirty="0" err="1">
                <a:solidFill>
                  <a:schemeClr val="bg1"/>
                </a:solidFill>
              </a:rPr>
              <a:t>Vivado</a:t>
            </a:r>
            <a:r>
              <a:rPr lang="en-IN" dirty="0">
                <a:solidFill>
                  <a:schemeClr val="bg1"/>
                </a:solidFill>
              </a:rPr>
              <a:t> / Quartus).</a:t>
            </a: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914400" y="59893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DECA093E-163E-1EEC-361E-A585C901C02F}"/>
              </a:ext>
            </a:extLst>
          </p:cNvPr>
          <p:cNvSpPr/>
          <p:nvPr/>
        </p:nvSpPr>
        <p:spPr>
          <a:xfrm>
            <a:off x="9462905" y="228600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863D04-75A1-B37B-876B-50AE300BC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408" y="440981"/>
            <a:ext cx="2554968" cy="8581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23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F2848"/>
          </a:solidFill>
          <a:ln/>
        </p:spPr>
      </p:sp>
      <p:sp>
        <p:nvSpPr>
          <p:cNvPr id="6" name="Text 3"/>
          <p:cNvSpPr/>
          <p:nvPr/>
        </p:nvSpPr>
        <p:spPr>
          <a:xfrm>
            <a:off x="305" y="1850203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u="sng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3078327" y="2515809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Vaibhav Shromani</a:t>
            </a:r>
            <a:endParaRPr 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755603" y="3342488"/>
            <a:ext cx="4680488" cy="44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Communication Engineering</a:t>
            </a:r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065565" y="373748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Maulana Azad National Institute Of Technology, Bhopal </a:t>
            </a: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0F2F6E12-5F59-0055-A1DC-3E340564F9F3}"/>
              </a:ext>
            </a:extLst>
          </p:cNvPr>
          <p:cNvSpPr/>
          <p:nvPr/>
        </p:nvSpPr>
        <p:spPr>
          <a:xfrm>
            <a:off x="4977315" y="408636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021206-5FC8-E8F8-630E-25B139E03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688" y="513443"/>
            <a:ext cx="2554968" cy="8581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CEFA4C-60EE-DEFC-7302-1379C052535E}"/>
              </a:ext>
            </a:extLst>
          </p:cNvPr>
          <p:cNvSpPr txBox="1"/>
          <p:nvPr/>
        </p:nvSpPr>
        <p:spPr>
          <a:xfrm>
            <a:off x="3297910" y="5121849"/>
            <a:ext cx="5622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Industrial Training Program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May-June 2026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217D1-B31C-A33C-C267-30C4292027E4}"/>
              </a:ext>
            </a:extLst>
          </p:cNvPr>
          <p:cNvSpPr txBox="1"/>
          <p:nvPr/>
        </p:nvSpPr>
        <p:spPr>
          <a:xfrm>
            <a:off x="2245963" y="4754180"/>
            <a:ext cx="7725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VLSI Domain – Minor Project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366BA-9B77-ABA5-945B-9264A2E393D4}"/>
              </a:ext>
            </a:extLst>
          </p:cNvPr>
          <p:cNvSpPr txBox="1"/>
          <p:nvPr/>
        </p:nvSpPr>
        <p:spPr>
          <a:xfrm>
            <a:off x="2548180" y="6309360"/>
            <a:ext cx="7725904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 PRIVATE LIMITED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info@technglobal.in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www.technglobal.in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476A65-BCC1-B22B-B695-5B6D4EEB3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908" y="-1437839"/>
            <a:ext cx="5273863" cy="5029200"/>
          </a:xfrm>
          <a:prstGeom prst="flowChartConnector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5227C8-2CD2-07FA-1B7A-6BFBFF638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45920" y="4299138"/>
            <a:ext cx="3840480" cy="3930462"/>
          </a:xfrm>
          <a:prstGeom prst="flowChartConnector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422</TotalTime>
  <Words>2450</Words>
  <Application>Microsoft Office PowerPoint</Application>
  <PresentationFormat>Widescreen</PresentationFormat>
  <Paragraphs>478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8-Bit Arithmetic Logic Unit (ALU) - Verilog HDL</dc:title>
  <dc:subject>PptxGenJS Presentation</dc:subject>
  <dc:creator>Vaibhav Shromani</dc:creator>
  <cp:lastModifiedBy>mohinishromani2000@gmail.com</cp:lastModifiedBy>
  <cp:revision>3</cp:revision>
  <dcterms:created xsi:type="dcterms:W3CDTF">2026-06-26T09:06:08Z</dcterms:created>
  <dcterms:modified xsi:type="dcterms:W3CDTF">2026-06-27T08:20:18Z</dcterms:modified>
</cp:coreProperties>
</file>